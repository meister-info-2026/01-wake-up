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0" cy="384048"/>
          </a:xfrm>
          <a:prstGeom prst="roundRect">
            <a:avLst>
              <a:gd name="adj" fmla="val 50000"/>
            </a:avLst>
          </a:prstGeom>
          <a:solidFill>
            <a:srgbClr val="E7EF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기상 유도 알람 시스템 · 2차 개발 착수 브리핑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기상 시스템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A3F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해부도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알람이 울리고, 웹캠 앞에서 미션을 풀고, 다시 잠들지 않았는지 확인받기까지 — 5개의 부품이 주고받는 JSON 한 줄까지 그대로 열어봅니다.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8DBC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343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6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16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59152" y="4343400"/>
            <a:ext cx="11841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FA5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59152" y="4343400"/>
            <a:ext cx="118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07892" y="4343400"/>
            <a:ext cx="9372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BCAC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07892" y="4343400"/>
            <a:ext cx="937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9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9744" y="4343400"/>
            <a:ext cx="192481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BBF8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9744" y="4343400"/>
            <a:ext cx="1924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YOLOv8 · ONNX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99148" y="4343400"/>
            <a:ext cx="204825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EA3A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99148" y="434340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Raspberry Pi 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완성본(Mock 하드웨어) 기준 · 2차 개발(라즈베리파이 5 실기기 연동) 착수 전 필독 자료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3152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시스템은 사실, 오감을 나눠 가진 팀입니다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눈으로 보고 · 뇌로 판단하고 · 손으로 움직이듯, 이 시스템도 5개 부품이 역할을 하나씩 나눠 맡습니다.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38042" y="2532888"/>
            <a:ext cx="640080" cy="640080"/>
          </a:xfrm>
          <a:prstGeom prst="ellipse">
            <a:avLst/>
          </a:prstGeom>
          <a:solidFill>
            <a:srgbClr val="2F86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38042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6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얼굴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 · Next.js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상황을 보여주고 사용자의 명령을 받아요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58963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56925" y="2532888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56925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2968691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968691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 · FastAPI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005267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울리고 언제 꺼야 할지 판단해요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77846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75808" y="2532888"/>
            <a:ext cx="640080" cy="640080"/>
          </a:xfrm>
          <a:prstGeom prst="ellipse">
            <a:avLst/>
          </a:prstGeom>
          <a:solidFill>
            <a:srgbClr val="0F9E8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775808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📓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5187574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9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187574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 · MySQL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224150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일이 있었는지 전부 적어놔요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296729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94691" y="2532888"/>
            <a:ext cx="640080" cy="640080"/>
          </a:xfrm>
          <a:prstGeom prst="ellipse">
            <a:avLst/>
          </a:prstGeom>
          <a:solidFill>
            <a:srgbClr val="DB8A1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94691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7406457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406457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 · YOLOv8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443033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웹캠으로 미션 성공 여부를 지켜봐요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515612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13574" y="2532888"/>
            <a:ext cx="640080" cy="640080"/>
          </a:xfrm>
          <a:prstGeom prst="ellipse">
            <a:avLst/>
          </a:prstGeom>
          <a:solidFill>
            <a:srgbClr val="E0576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213574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9625340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625340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Hardware · Pi 5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9661916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진짜로 부저를 울리고 꺼요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577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지금부터 한 명씩, 그리고 이들이 나누는 대화를 하나씩 살펴봅니다.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SYSTEM MAP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누구에게 말을 거나요?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663440" y="1554480"/>
            <a:ext cx="24688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F86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0" y="16642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0116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대시보드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3063240"/>
            <a:ext cx="24688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28575">
            <a:solidFill>
              <a:srgbClr val="8B5C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31729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52044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(중계 허브)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5074920"/>
            <a:ext cx="24688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F9E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51846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55321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B8A1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2644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 클라이언트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61188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웹캠 PC · 독립 프로세스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869680" y="315468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057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0" y="32644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Raspberry Pi 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361188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Mock → 실기기 · 독립 프로세스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97880" y="2240280"/>
            <a:ext cx="0" cy="82296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709160" y="242316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0916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WebSocket + REST(JSON)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97880" y="3931920"/>
            <a:ext cx="0" cy="114300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headEnd type="triangl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709160" y="427482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09160" y="42748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/ 조회 (PyMySQL)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0" y="3497580"/>
            <a:ext cx="1737360" cy="0"/>
          </a:xfrm>
          <a:prstGeom prst="line">
            <a:avLst/>
          </a:prstGeom>
          <a:noFill/>
          <a:ln w="25400">
            <a:solidFill>
              <a:srgbClr val="DB8A1D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017520" y="3268980"/>
            <a:ext cx="1554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017520" y="32689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vision/events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32320" y="3497580"/>
            <a:ext cx="1737360" cy="0"/>
          </a:xfrm>
          <a:prstGeom prst="line">
            <a:avLst/>
          </a:prstGeom>
          <a:noFill/>
          <a:ln w="25400">
            <a:solidFill>
              <a:srgbClr val="E0576B"/>
            </a:solidFill>
            <a:prstDash val="solid"/>
            <a:headEnd type="triangl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200900" y="3268980"/>
            <a:ext cx="1600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200900" y="32689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desired-state 폴링(1초)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35508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백엔드가 정중앙에서 모든 대화를 중계합니다 — 비전 클라이언트와 라즈베리파이는 서로 다른 컴퓨터에서 실행되며, 절대 서로 직접 통신하지 않습니다.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6F0FD"/>
          </a:solidFill>
          <a:ln w="12700">
            <a:solidFill>
              <a:srgbClr val="A1C9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F86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2F86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🖥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얼굴 — 지금 상황을 보여주는 화면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16 · React 19 · TypeScript · Tailwind CSS · Lucide Icons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2F86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WebSocket(ws://.../ws)에 연결해 상태를 실시간으로 받아요 — 새로고침 없이 화면이 바로 바뀝니다.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2F86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962656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부저가 울리면 AlertCard가 켜지고, 사용자가 버튼 하나로 끌 수 있어요.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1363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2F86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822192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미션 성공 25초 후 뜨는 기상 확인 팝업도 이 화면의 몫이에요 — 15초 카운트다운까지 직접 그립니다.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773168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2F86E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681728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만들어져 있어 다시 만들 필요 없는 부품: ConnectionBadge.tsx, statusColor.ts.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2103120"/>
            <a:ext cx="4602175" cy="1938528"/>
          </a:xfrm>
          <a:prstGeom prst="roundRect">
            <a:avLst>
              <a:gd name="adj" fmla="val 4245"/>
            </a:avLst>
          </a:prstGeom>
          <a:solidFill>
            <a:srgbClr val="10121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frontend/ 폴더 구조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150608" y="2523744"/>
            <a:ext cx="4199839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app/page.tsx           # 대시보드 메인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components/dashboard/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2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ActuatorCard.tsx     # 부저 카드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2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SensorCard.tsx       # 센서 카드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2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AlarmScheduleCard.tsx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4224528"/>
            <a:ext cx="4602175" cy="1389888"/>
          </a:xfrm>
          <a:prstGeom prst="roundRect">
            <a:avLst>
              <a:gd name="adj" fmla="val 5921"/>
            </a:avLst>
          </a:prstGeom>
          <a:solidFill>
            <a:srgbClr val="10121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50608" y="4352544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실시간으로 받는 메시지 한 조각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150608" y="4645152"/>
            <a:ext cx="4199839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"type": "device_state",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"device_id": "buzzer_1",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"state": "ringing" }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1EBFE"/>
          </a:solidFill>
          <a:ln w="12700">
            <a:solidFill>
              <a:srgbClr val="CBB6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 — 언제 울리고, 언제 꺼야 할지 판단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· Python 3.12 · Uvicorn · WebSocket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라우터 4개로 일을 나눠요: devices(기기) · alarm(알람) · vision(영상 이벤트) · logs(기록).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962656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trigger_service.py 하나가 '미션 성공 → 알람 종료 → 25초 후 확인 팝업 → 15초 무응답 시 재알람'까지 전부 판단해요.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1363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822192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시키지 않아도 스스로 타이머를 돌리는 부분(2차 수면 방지)이 바로 여기 있어요 — asyncio.create_task.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773168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681728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GPIO는 절대 만지지 않아요 — 실제 부저를 켜고 끄는 건 언제나 라즈베리파이의 몫, 백엔드는 중계자일 뿐이에요.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2103120"/>
            <a:ext cx="4602175" cy="2231136"/>
          </a:xfrm>
          <a:prstGeom prst="roundRect">
            <a:avLst>
              <a:gd name="adj" fmla="val 3689"/>
            </a:avLst>
          </a:prstGeom>
          <a:solidFill>
            <a:srgbClr val="10121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살아있는 엔드포인트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150608" y="2523744"/>
            <a:ext cx="4199839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C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/api/devices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E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/api/v1/devices/{id}/state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/api/v1/devices/{id}/desired-state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E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/api/alarm/schedule · /trigger · /stop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E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/api/v1/vision/events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   /ws (실시간 브로드캐스트)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F3F1"/>
          </a:solidFill>
          <a:ln w="12700">
            <a:solidFill>
              <a:srgbClr val="93D3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F9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0F9E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📓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 — 무슨 일이 있었는지 전부 기억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/ MariaDB(로컬) → Supabase PostgreSQL(클라우드 배포 시)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0F9E8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필요할까요? 백엔드를 껐다 켜도(--reload) 방금까지의 알람 상태가 사라지면 안 되니까요.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0F9E8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962656"/>
            <a:ext cx="57150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 4개면 충분해요: devices(지금 상태) · sensor_readings(센서 이력) · control_log(누가 시켰나) · vision_events(웹캠이 본 것).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8795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0F9E8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096512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control_log.actor 컬럼 하나로 '사람이 눌렀나 / 기계가 보고했나 / 시스템이 자동 판단했나'까지 전부 구분해요.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2103120"/>
            <a:ext cx="4602175" cy="1645920"/>
          </a:xfrm>
          <a:prstGeom prst="roundRect">
            <a:avLst>
              <a:gd name="adj" fmla="val 5000"/>
            </a:avLst>
          </a:prstGeom>
          <a:solidFill>
            <a:srgbClr val="1012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backend/db/init.sql — 시드 데이터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50608" y="2523744"/>
            <a:ext cx="419983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devices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('buzzer_1', '알람 출력 장치', 'buzzer'),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('touch_pad_1', '패드 화면/터치', 'touch_pad'),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('camera_1', '기상 감지 카메라', 'camera');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BF1E4"/>
          </a:solidFill>
          <a:ln w="12700">
            <a:solidFill>
              <a:srgbClr val="EFCA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DB8A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👁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 — 웹캠으로 미션 성공을 확인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OpenCV · YOLOv8(ONNX) · onnxruntime · Pillow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DB8A1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PyTorch 없이 동작해요 — 초경량 ONNX 엔진만으로 실습실 30여 대가 동시에 설치해도 학내망이 안 막혀요.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DB8A1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962656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COCO 80종 중 5개만 기상 미션으로 씁니다: 사람 · 물병 · 컵 · 책 · 휴대폰.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1363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DB8A1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822192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키보드 1~5, A로 지금 확인할 미션 대상을 직접 바꿔가며 테스트할 수 있어요.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773168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DB8A1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681728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 자막은 cv2.putText 대신 Pillow로 그려요 — 안 그러면 글자가 ???로 깨집니다.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2103120"/>
            <a:ext cx="4602175" cy="1645920"/>
          </a:xfrm>
          <a:prstGeom prst="roundRect">
            <a:avLst>
              <a:gd name="adj" fmla="val 5000"/>
            </a:avLst>
          </a:prstGeom>
          <a:solidFill>
            <a:srgbClr val="10121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vision/main.py → backend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150608" y="2523744"/>
            <a:ext cx="419983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/api/v1/vision/events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"event_type": "bottle_detected",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"detected": true, "count": 1,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0.87 }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BEBED"/>
          </a:solidFill>
          <a:ln w="12700">
            <a:solidFill>
              <a:srgbClr val="F1B3B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HARDWARE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E057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— 진짜로 부저를 울리고 끄기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 5 · gpiozero/lgpio(2차 목표) · 지금은 Windows Mock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E057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지금(1차)의 정체: pi/main.py는 사실 '라즈베리파이 흉내'를 내는 윈도우용 프로그램이에요 — winsound 비프음 + Tkinter 터치패드 창.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32841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E057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1초마다 백엔드에 '지금 부저 켜야 해?'라고 물어봐요(폴링) — 백엔드가 라즈베리파이를 직접 찾아가는 일은 없어요.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8795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E057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096512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터치패드 화면을 클릭하면 실제 터치처럼 백엔드로 전송돼 2차 수면 확인이 완료돼요.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047488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E057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956048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개발 = 이 파일을 실제 GPIO 코드로 바꾸는 것 — 부저는 GPIO 18, 버튼은 GPIO 24 같은 식으로.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2103120"/>
            <a:ext cx="4602175" cy="1938528"/>
          </a:xfrm>
          <a:prstGeom prst="roundRect">
            <a:avLst>
              <a:gd name="adj" fmla="val 4245"/>
            </a:avLst>
          </a:prstGeom>
          <a:solidFill>
            <a:srgbClr val="10121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pi/main.py — 폴링 루프(1초 주기)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150608" y="2523744"/>
            <a:ext cx="4199839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desired-state("buzzer_1")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desired_state == "ringing":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start_buzzer_sound()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 stop_buzzer_sound()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state(반영 결과 보고)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연동의 규칙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부품이 대화하는 공용어 : REST API + JSON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API는 '식당 메뉴판'과 같아요 — 정확한 이름(URL)과 주문서 양식(JSON)만 지키면 음식이 나옵니다.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0B5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10312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X-Device-Api-Key — 기계(비전 · 라즈베리파이)용. 서버가 문자열을 그대로 비교해서 틀리면 401.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0B5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962656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Authorization: Bearer … — 사람(대시보드)용.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2103120"/>
            <a:ext cx="4602175" cy="768096"/>
          </a:xfrm>
          <a:prstGeom prst="roundRect">
            <a:avLst>
              <a:gd name="adj" fmla="val 10714"/>
            </a:avLst>
          </a:prstGeom>
          <a:solidFill>
            <a:srgbClr val="1012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 /api/v1/devices/buzzer_1/desired-state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150608" y="2523744"/>
            <a:ext cx="4199839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2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X-Device-Api-Key: wake_up_2026...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3054096"/>
            <a:ext cx="4602175" cy="1097280"/>
          </a:xfrm>
          <a:prstGeom prst="roundRect">
            <a:avLst>
              <a:gd name="adj" fmla="val 7500"/>
            </a:avLst>
          </a:prstGeom>
          <a:solidFill>
            <a:srgbClr val="10121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50608" y="3182112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150608" y="3474720"/>
            <a:ext cx="41998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"data": { "desired_state":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"ringing", "value": {"volume":85} } 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6080760"/>
            <a:ext cx="10911535" cy="786384"/>
          </a:xfrm>
          <a:prstGeom prst="roundRect">
            <a:avLst>
              <a:gd name="adj" fmla="val 9302"/>
            </a:avLst>
          </a:prstGeom>
          <a:solidFill>
            <a:srgbClr val="FAF2E7"/>
          </a:solidFill>
          <a:ln w="12700">
            <a:solidFill>
              <a:srgbClr val="E7C3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6172200"/>
            <a:ext cx="105091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97A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솔직 고백: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단계에서는 사람 출입증이 사실 검사되지 않아요 — SUPABASE_JWT_SECRET이 없으면 그냥 통과시킵니다. 5단계 클라우드 배포부터 진짜로 잠깁니다.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 RULES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알람이 울린 순간부터 확인까지 — 전체 여정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미션 성공 후 25초, 확인까지 다시 15초 — trigger_service.py의 상수 그대로예요.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4480560" cy="889254"/>
          </a:xfrm>
          <a:prstGeom prst="roundRect">
            <a:avLst>
              <a:gd name="adj" fmla="val 7198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2103120"/>
            <a:ext cx="4151376" cy="889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⏰ 알람 시각 도달 / 즉시 트리거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193792" y="2547747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65215" y="2103120"/>
            <a:ext cx="5486400" cy="889254"/>
          </a:xfrm>
          <a:prstGeom prst="roundRect">
            <a:avLst>
              <a:gd name="adj" fmla="val 7198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29807" y="2103120"/>
            <a:ext cx="5157216" cy="889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🔔 피에조 부저 ON (ringing)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102102"/>
            <a:ext cx="4480560" cy="889254"/>
          </a:xfrm>
          <a:prstGeom prst="roundRect">
            <a:avLst>
              <a:gd name="adj" fmla="val 7198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3102102"/>
            <a:ext cx="4151376" cy="889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👁 웹캠 앞에서 미션 수행 (사람·물병·컵·책·휴대폰)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193792" y="3546729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65215" y="3102102"/>
            <a:ext cx="5486400" cy="889254"/>
          </a:xfrm>
          <a:prstGeom prst="roundRect">
            <a:avLst>
              <a:gd name="adj" fmla="val 7198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29807" y="3102102"/>
            <a:ext cx="5157216" cy="889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미션 성공 → 알람 OFF, 25초 대기 시작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101084"/>
            <a:ext cx="4480560" cy="889254"/>
          </a:xfrm>
          <a:prstGeom prst="roundRect">
            <a:avLst>
              <a:gd name="adj" fmla="val 7198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4101084"/>
            <a:ext cx="4151376" cy="889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 25초 후 → 기상 확인 팝업 (15초 제한)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193792" y="4545711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65215" y="4101084"/>
            <a:ext cx="5486400" cy="889254"/>
          </a:xfrm>
          <a:prstGeom prst="roundRect">
            <a:avLst>
              <a:gd name="adj" fmla="val 7198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29807" y="4101084"/>
            <a:ext cx="5157216" cy="889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👆 확인함(버튼·터치패드) → 종료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100066"/>
            <a:ext cx="4480560" cy="889254"/>
          </a:xfrm>
          <a:prstGeom prst="roundRect">
            <a:avLst>
              <a:gd name="adj" fmla="val 7198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5100066"/>
            <a:ext cx="4151376" cy="889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 15초 무응답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193792" y="5544693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065215" y="5100066"/>
            <a:ext cx="5486400" cy="889254"/>
          </a:xfrm>
          <a:prstGeom prst="roundRect">
            <a:avLst>
              <a:gd name="adj" fmla="val 7198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29807" y="5100066"/>
            <a:ext cx="5157216" cy="889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🔁 부저 다시 ON(더 크게) → 미션부터 재시작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6080760"/>
            <a:ext cx="10911535" cy="786384"/>
          </a:xfrm>
          <a:prstGeom prst="roundRect">
            <a:avLst>
              <a:gd name="adj" fmla="val 9302"/>
            </a:avLst>
          </a:prstGeom>
          <a:solidFill>
            <a:srgbClr val="E9F6F1"/>
          </a:solidFill>
          <a:ln w="12700">
            <a:solidFill>
              <a:srgbClr val="9AD8B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1248" y="6172200"/>
            <a:ext cx="105091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 주목할 점: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테스트할 때마다 40초를 기다리기 번거롭다면? 코드의 두 상수를 잠깐 3초로 낮춰 테스트하고, 실제 시연 전에는 꼭 원래 값으로 되돌리세요.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MOCK ↔ 실기기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스턴트 대역 배우 — DeviceProvider 패턴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대본(백엔드 코드)은 '누가' 연기하는지 몰라요 — 정해진 4개 동작만 똑같이 해내면 됩니다.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모두가 지키는 4개의 동작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get_device_status()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803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set_actuator_state()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4612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read_sensor_value()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1188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get_all_statuses()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114800"/>
            <a:ext cx="5669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MockDeviceProvider(가짜 배우)가 연기 중이에요 — 메모리에서 흉내만 내죠. .env의 DEVICE_MODE=hardware로 바꾸고 backend/iot/hardware_provider.py를 실제 배우로 캐스팅하면, 대본은 한 줄도 안 바꿔도 진짜 하드웨어가 움직입니다.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29400" y="2103120"/>
            <a:ext cx="4922215" cy="2286000"/>
          </a:xfrm>
          <a:prstGeom prst="roundRect">
            <a:avLst>
              <a:gd name="adj" fmla="val 3600"/>
            </a:avLst>
          </a:prstGeom>
          <a:solidFill>
            <a:srgbClr val="1012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30568" y="2231136"/>
            <a:ext cx="4519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상태 스냅샷 (정직 버전)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30568" y="25603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buzzer_1 · touch_pad_1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87396" y="26151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C97A0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7396" y="26151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7A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Windows Mock 중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30568" y="30175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camera_1 (devices 항목)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87396" y="30723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C97A0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87396" y="30723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7A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Mock 시뮬레이션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830568" y="34747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영상인식 판단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287396" y="35295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1FA97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87396" y="35295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작동 중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30568" y="39319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· Frontend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287396" y="39867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1FA97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87396" y="39867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작동 중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미션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여러분이 이어받을 4가지 과제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476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4767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 5 실기기 전환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0487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pi/main.py를 gpiozero로 실제 GPIO 코드로 바꿉니다.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4553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부록C · 03 핸드오버 가이드 과제 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93028" y="19476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93028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95948" y="194767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센서/액추에이터 추가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393028" y="240487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LED 경보등 — DB 시드, trigger_service, UI까지 함께.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393028" y="314553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핸드오버 가이드 과제 B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867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86791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영상인식 고도화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32511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가위바위보 손동작, 얼굴/눈 깜빡임 등으로 미션 확장.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6577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핸드오버 가이드 과제 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0148" y="370332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93028" y="3867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93028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95948" y="386791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배포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6393028" y="432511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 + Render + Vercel 배포.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393028" y="506577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핸드오버 가이드 과제 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0080" y="5486400"/>
            <a:ext cx="10911535" cy="786384"/>
          </a:xfrm>
          <a:prstGeom prst="roundRect">
            <a:avLst>
              <a:gd name="adj" fmla="val 9302"/>
            </a:avLst>
          </a:prstGeom>
          <a:solidFill>
            <a:srgbClr val="E9F6F1"/>
          </a:solidFill>
          <a:ln w="12700">
            <a:solidFill>
              <a:srgbClr val="9AD8B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" y="5577840"/>
            <a:ext cx="105091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 주목할 점: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AI 채팅을 열 때마다 docs/03-2차개발-생성형AI-핸드오버-가이드.md의 '시스템 프롬프트'부터 붙여넣으세요.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행선지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막히면, 여기부터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1645920"/>
                <a:gridCol w="505937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먼저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필요할 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 전원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 슬라이드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부록A, 부록B, 부록F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백엔드 · DB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부록C, 부록D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프론트엔드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부록C(3·7장)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라즈베리파이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부록E → 부록C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영상인식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436168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확인한 것 — 5개 부품, 하나의 대화 규칙(REST + JSON), 그리고 되풀이되는 하나의 아침 여정. 이제 코드를 열어보세요.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581248" y="5897880"/>
            <a:ext cx="640080" cy="640080"/>
          </a:xfrm>
          <a:prstGeom prst="ellipse">
            <a:avLst/>
          </a:prstGeom>
          <a:solidFill>
            <a:srgbClr val="2F86E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58124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678528" y="589788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67852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5775808" y="5897880"/>
            <a:ext cx="640080" cy="640080"/>
          </a:xfrm>
          <a:prstGeom prst="ellipse">
            <a:avLst/>
          </a:prstGeom>
          <a:solidFill>
            <a:srgbClr val="0F9E8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77580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📓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6873088" y="5897880"/>
            <a:ext cx="640080" cy="640080"/>
          </a:xfrm>
          <a:prstGeom prst="ellipse">
            <a:avLst/>
          </a:prstGeom>
          <a:solidFill>
            <a:srgbClr val="DB8A1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87308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7970368" y="5897880"/>
            <a:ext cx="640080" cy="640080"/>
          </a:xfrm>
          <a:prstGeom prst="ellipse">
            <a:avLst/>
          </a:prstGeom>
          <a:solidFill>
            <a:srgbClr val="E0576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97036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2026-09-05T23:31:19Z</dcterms:created>
  <dcterms:modified xsi:type="dcterms:W3CDTF">2026-09-05T23:31:19Z</dcterms:modified>
</cp:coreProperties>
</file>